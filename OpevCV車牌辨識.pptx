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7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zh-TW" altLang="en-US"/>
              <a:t>按一下以編輯母片標題樣式</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94C781BD-CE63-47B6-B099-C6686EA4E60E}" type="datetimeFigureOut">
              <a:rPr lang="zh-TW" altLang="en-US" smtClean="0"/>
              <a:t>2024/7/19</a:t>
            </a:fld>
            <a:endParaRPr lang="zh-TW" altLang="en-US"/>
          </a:p>
        </p:txBody>
      </p:sp>
      <p:sp>
        <p:nvSpPr>
          <p:cNvPr id="5" name="Footer Placeholder 4"/>
          <p:cNvSpPr>
            <a:spLocks noGrp="1"/>
          </p:cNvSpPr>
          <p:nvPr>
            <p:ph type="ftr" sz="quarter" idx="11"/>
          </p:nvPr>
        </p:nvSpPr>
        <p:spPr>
          <a:xfrm>
            <a:off x="1127124" y="329307"/>
            <a:ext cx="5943668" cy="309201"/>
          </a:xfrm>
        </p:spPr>
        <p:txBody>
          <a:bodyPr/>
          <a:lstStyle/>
          <a:p>
            <a:endParaRPr lang="zh-TW" altLang="en-US"/>
          </a:p>
        </p:txBody>
      </p:sp>
      <p:sp>
        <p:nvSpPr>
          <p:cNvPr id="6" name="Slide Number Placeholder 5"/>
          <p:cNvSpPr>
            <a:spLocks noGrp="1"/>
          </p:cNvSpPr>
          <p:nvPr>
            <p:ph type="sldNum" sz="quarter" idx="12"/>
          </p:nvPr>
        </p:nvSpPr>
        <p:spPr>
          <a:xfrm>
            <a:off x="9924392" y="134930"/>
            <a:ext cx="811019" cy="503578"/>
          </a:xfrm>
        </p:spPr>
        <p:txBody>
          <a:bodyPr/>
          <a:lstStyle/>
          <a:p>
            <a:fld id="{15053192-CD17-4779-81CB-8AFDA8BAD8D3}" type="slidenum">
              <a:rPr lang="zh-TW" altLang="en-US" smtClean="0"/>
              <a:t>‹#›</a:t>
            </a:fld>
            <a:endParaRPr lang="zh-TW" alt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518411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ncho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lvl1pPr>
              <a:defRPr sz="1200"/>
            </a:lvl1pPr>
          </a:lstStyle>
          <a:p>
            <a:fld id="{94C781BD-CE63-47B6-B099-C6686EA4E60E}" type="datetimeFigureOut">
              <a:rPr lang="zh-TW" altLang="en-US" smtClean="0"/>
              <a:t>2024/7/19</a:t>
            </a:fld>
            <a:endParaRPr lang="zh-TW" altLang="en-US"/>
          </a:p>
        </p:txBody>
      </p:sp>
      <p:sp>
        <p:nvSpPr>
          <p:cNvPr id="5" name="Footer Placeholder 4"/>
          <p:cNvSpPr>
            <a:spLocks noGrp="1"/>
          </p:cNvSpPr>
          <p:nvPr>
            <p:ph type="ftr" sz="quarter" idx="11"/>
          </p:nvPr>
        </p:nvSpPr>
        <p:spPr/>
        <p:txBody>
          <a:bodyPr/>
          <a:lstStyle>
            <a:lvl1pPr>
              <a:defRPr sz="1200"/>
            </a:lvl1pPr>
          </a:lstStyle>
          <a:p>
            <a:endParaRPr lang="zh-TW" altLang="en-US"/>
          </a:p>
        </p:txBody>
      </p:sp>
      <p:sp>
        <p:nvSpPr>
          <p:cNvPr id="6" name="Slide Number Placeholder 5"/>
          <p:cNvSpPr>
            <a:spLocks noGrp="1"/>
          </p:cNvSpPr>
          <p:nvPr>
            <p:ph type="sldNum" sz="quarter" idx="12"/>
          </p:nvPr>
        </p:nvSpPr>
        <p:spPr/>
        <p:txBody>
          <a:bodyPr/>
          <a:lstStyle/>
          <a:p>
            <a:fld id="{15053192-CD17-4779-81CB-8AFDA8BAD8D3}" type="slidenum">
              <a:rPr lang="zh-TW" altLang="en-US" smtClean="0"/>
              <a:t>‹#›</a:t>
            </a:fld>
            <a:endParaRPr lang="zh-TW" altLang="en-US"/>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970317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zh-TW" altLang="en-US"/>
              <a:t>按一下以編輯母片標題樣式</a:t>
            </a:r>
            <a:endParaRPr lang="en-US" dirty="0"/>
          </a:p>
        </p:txBody>
      </p:sp>
      <p:sp>
        <p:nvSpPr>
          <p:cNvPr id="3" name="Text Placeholder 2"/>
          <p:cNvSpPr>
            <a:spLocks noGrp="1"/>
          </p:cNvSpPr>
          <p:nvPr>
            <p:ph type="body" idx="1" hasCustomPrompt="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4C781BD-CE63-47B6-B099-C6686EA4E60E}" type="datetimeFigureOut">
              <a:rPr lang="zh-TW" altLang="en-US" smtClean="0"/>
              <a:t>2024/7/19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15053192-CD17-4779-81CB-8AFDA8BAD8D3}" type="slidenum">
              <a:rPr lang="zh-TW" altLang="en-US" smtClean="0"/>
              <a:t>‹#›</a:t>
            </a:fld>
            <a:endParaRPr lang="zh-TW" alt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024923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C781BD-CE63-47B6-B099-C6686EA4E60E}" type="datetimeFigureOut">
              <a:rPr lang="zh-TW" altLang="en-US" smtClean="0"/>
              <a:t>2024/7/19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15053192-CD17-4779-81CB-8AFDA8BAD8D3}" type="slidenum">
              <a:rPr lang="zh-TW" altLang="en-US" smtClean="0"/>
              <a:t>‹#›</a:t>
            </a:fld>
            <a:endParaRPr lang="zh-TW" alt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503106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129166" y="2974448"/>
            <a:ext cx="4645152" cy="2493876"/>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094337" y="2971669"/>
            <a:ext cx="4645152" cy="2487193"/>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94C781BD-CE63-47B6-B099-C6686EA4E60E}" type="datetimeFigureOut">
              <a:rPr lang="zh-TW" altLang="en-US" smtClean="0"/>
              <a:t>2024/7/19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15053192-CD17-4779-81CB-8AFDA8BAD8D3}" type="slidenum">
              <a:rPr lang="zh-TW" altLang="en-US" smtClean="0"/>
              <a:t>‹#›</a:t>
            </a:fld>
            <a:endParaRPr lang="zh-TW" alt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995778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94C781BD-CE63-47B6-B099-C6686EA4E60E}" type="datetimeFigureOut">
              <a:rPr lang="zh-TW" altLang="en-US" smtClean="0"/>
              <a:t>2024/7/19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15053192-CD17-4779-81CB-8AFDA8BAD8D3}" type="slidenum">
              <a:rPr lang="zh-TW" altLang="en-US" smtClean="0"/>
              <a:t>‹#›</a:t>
            </a:fld>
            <a:endParaRPr lang="zh-TW" alt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339312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C781BD-CE63-47B6-B099-C6686EA4E60E}" type="datetimeFigureOut">
              <a:rPr lang="zh-TW" altLang="en-US" smtClean="0"/>
              <a:t>2024/7/19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15053192-CD17-4779-81CB-8AFDA8BAD8D3}" type="slidenum">
              <a:rPr lang="zh-TW" altLang="en-US" smtClean="0"/>
              <a:t>‹#›</a:t>
            </a:fld>
            <a:endParaRPr lang="zh-TW" altLang="en-US"/>
          </a:p>
        </p:txBody>
      </p:sp>
    </p:spTree>
    <p:extLst>
      <p:ext uri="{BB962C8B-B14F-4D97-AF65-F5344CB8AC3E}">
        <p14:creationId xmlns:p14="http://schemas.microsoft.com/office/powerpoint/2010/main" val="4034376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zh-TW" altLang="en-US"/>
              <a:t>按一下以編輯母片標題樣式</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4C781BD-CE63-47B6-B099-C6686EA4E60E}" type="datetimeFigureOut">
              <a:rPr lang="zh-TW" altLang="en-US" smtClean="0"/>
              <a:t>2024/7/19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15053192-CD17-4779-81CB-8AFDA8BAD8D3}" type="slidenum">
              <a:rPr lang="zh-TW" altLang="en-US" smtClean="0"/>
              <a:t>‹#›</a:t>
            </a:fld>
            <a:endParaRPr lang="zh-TW" alt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4030596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94C781BD-CE63-47B6-B099-C6686EA4E60E}" type="datetimeFigureOut">
              <a:rPr lang="zh-TW" altLang="en-US" smtClean="0"/>
              <a:t>2024/7/19</a:t>
            </a:fld>
            <a:endParaRPr lang="zh-TW" altLang="en-US"/>
          </a:p>
        </p:txBody>
      </p:sp>
      <p:sp>
        <p:nvSpPr>
          <p:cNvPr id="6" name="Footer Placeholder 5"/>
          <p:cNvSpPr>
            <a:spLocks noGrp="1"/>
          </p:cNvSpPr>
          <p:nvPr>
            <p:ph type="ftr" sz="quarter" idx="11"/>
          </p:nvPr>
        </p:nvSpPr>
        <p:spPr>
          <a:xfrm>
            <a:off x="1125300" y="318640"/>
            <a:ext cx="4877818" cy="320931"/>
          </a:xfrm>
        </p:spPr>
        <p:txBody>
          <a:bodyPr/>
          <a:lstStyle/>
          <a:p>
            <a:endParaRPr lang="zh-TW" altLang="en-US"/>
          </a:p>
        </p:txBody>
      </p:sp>
      <p:sp>
        <p:nvSpPr>
          <p:cNvPr id="7" name="Slide Number Placeholder 6"/>
          <p:cNvSpPr>
            <a:spLocks noGrp="1"/>
          </p:cNvSpPr>
          <p:nvPr>
            <p:ph type="sldNum" sz="quarter" idx="12"/>
          </p:nvPr>
        </p:nvSpPr>
        <p:spPr>
          <a:xfrm>
            <a:off x="6176794" y="137408"/>
            <a:ext cx="811019" cy="503578"/>
          </a:xfrm>
        </p:spPr>
        <p:txBody>
          <a:bodyPr/>
          <a:lstStyle/>
          <a:p>
            <a:fld id="{15053192-CD17-4779-81CB-8AFDA8BAD8D3}" type="slidenum">
              <a:rPr lang="zh-TW" altLang="en-US" smtClean="0"/>
              <a:t>‹#›</a:t>
            </a:fld>
            <a:endParaRPr lang="zh-TW" alt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705631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4C781BD-CE63-47B6-B099-C6686EA4E60E}" type="datetimeFigureOut">
              <a:rPr lang="zh-TW" altLang="en-US" smtClean="0"/>
              <a:t>2024/7/19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15053192-CD17-4779-81CB-8AFDA8BAD8D3}" type="slidenum">
              <a:rPr lang="zh-TW" altLang="en-US" smtClean="0"/>
              <a:t>‹#›</a:t>
            </a:fld>
            <a:endParaRPr lang="zh-TW" alt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374878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4C781BD-CE63-47B6-B099-C6686EA4E60E}" type="datetimeFigureOut">
              <a:rPr lang="zh-TW" altLang="en-US" smtClean="0"/>
              <a:t>2024/7/19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15053192-CD17-4779-81CB-8AFDA8BAD8D3}" type="slidenum">
              <a:rPr lang="zh-TW" altLang="en-US" smtClean="0"/>
              <a:t>‹#›</a:t>
            </a:fld>
            <a:endParaRPr lang="zh-TW" altLang="en-US"/>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954911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4C781BD-CE63-47B6-B099-C6686EA4E60E}" type="datetimeFigureOut">
              <a:rPr lang="zh-TW" altLang="en-US" smtClean="0"/>
              <a:t>2024/7/19</a:t>
            </a:fld>
            <a:endParaRPr lang="zh-TW" altLang="en-US"/>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15053192-CD17-4779-81CB-8AFDA8BAD8D3}" type="slidenum">
              <a:rPr lang="zh-TW" altLang="en-US" smtClean="0"/>
              <a:t>‹#›</a:t>
            </a:fld>
            <a:endParaRPr lang="zh-TW" altLang="en-US"/>
          </a:p>
        </p:txBody>
      </p:sp>
    </p:spTree>
    <p:extLst>
      <p:ext uri="{BB962C8B-B14F-4D97-AF65-F5344CB8AC3E}">
        <p14:creationId xmlns:p14="http://schemas.microsoft.com/office/powerpoint/2010/main" val="291648287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DE5061-FB42-E982-203D-A3154CE4B7B2}"/>
              </a:ext>
            </a:extLst>
          </p:cNvPr>
          <p:cNvSpPr>
            <a:spLocks noGrp="1"/>
          </p:cNvSpPr>
          <p:nvPr>
            <p:ph type="ctrTitle"/>
          </p:nvPr>
        </p:nvSpPr>
        <p:spPr/>
        <p:txBody>
          <a:bodyPr/>
          <a:lstStyle/>
          <a:p>
            <a:r>
              <a:rPr lang="en-US" altLang="zh-TW" dirty="0"/>
              <a:t>OpenCV</a:t>
            </a:r>
            <a:r>
              <a:rPr lang="zh-TW" altLang="en-US" dirty="0"/>
              <a:t>車牌辨識</a:t>
            </a:r>
          </a:p>
        </p:txBody>
      </p:sp>
      <p:sp>
        <p:nvSpPr>
          <p:cNvPr id="3" name="副標題 2">
            <a:extLst>
              <a:ext uri="{FF2B5EF4-FFF2-40B4-BE49-F238E27FC236}">
                <a16:creationId xmlns:a16="http://schemas.microsoft.com/office/drawing/2014/main" id="{FFC047E6-3B6A-E175-7558-9FAA8E336763}"/>
              </a:ext>
            </a:extLst>
          </p:cNvPr>
          <p:cNvSpPr>
            <a:spLocks noGrp="1"/>
          </p:cNvSpPr>
          <p:nvPr>
            <p:ph type="subTitle" idx="1"/>
          </p:nvPr>
        </p:nvSpPr>
        <p:spPr/>
        <p:txBody>
          <a:bodyPr/>
          <a:lstStyle/>
          <a:p>
            <a:r>
              <a:rPr lang="zh-TW" altLang="en-US" dirty="0"/>
              <a:t>作者：吳彥瑾</a:t>
            </a:r>
          </a:p>
          <a:p>
            <a:endParaRPr lang="zh-TW" altLang="en-US" dirty="0"/>
          </a:p>
        </p:txBody>
      </p:sp>
    </p:spTree>
    <p:extLst>
      <p:ext uri="{BB962C8B-B14F-4D97-AF65-F5344CB8AC3E}">
        <p14:creationId xmlns:p14="http://schemas.microsoft.com/office/powerpoint/2010/main" val="317820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C4D95C-2DA3-1F1C-93A9-5C908AFDA519}"/>
              </a:ext>
            </a:extLst>
          </p:cNvPr>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目錄</a:t>
            </a:r>
          </a:p>
        </p:txBody>
      </p:sp>
      <p:sp>
        <p:nvSpPr>
          <p:cNvPr id="3" name="內容版面配置區 2">
            <a:extLst>
              <a:ext uri="{FF2B5EF4-FFF2-40B4-BE49-F238E27FC236}">
                <a16:creationId xmlns:a16="http://schemas.microsoft.com/office/drawing/2014/main" id="{3BEF5B9A-B5AE-7F65-05D4-FEE05946BB15}"/>
              </a:ext>
            </a:extLst>
          </p:cNvPr>
          <p:cNvSpPr>
            <a:spLocks noGrp="1"/>
          </p:cNvSpPr>
          <p:nvPr>
            <p:ph idx="1"/>
          </p:nvPr>
        </p:nvSpPr>
        <p:spPr/>
        <p:txBody>
          <a:bodyPr/>
          <a:lstStyle/>
          <a:p>
            <a:r>
              <a:rPr lang="zh-TW" altLang="en-US" dirty="0">
                <a:latin typeface="標楷體" panose="03000509000000000000" pitchFamily="65" charset="-120"/>
                <a:ea typeface="標楷體" panose="03000509000000000000" pitchFamily="65" charset="-120"/>
              </a:rPr>
              <a:t>專題說明</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相關文章</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實作結果</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結論</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參考</a:t>
            </a:r>
          </a:p>
        </p:txBody>
      </p:sp>
    </p:spTree>
    <p:extLst>
      <p:ext uri="{BB962C8B-B14F-4D97-AF65-F5344CB8AC3E}">
        <p14:creationId xmlns:p14="http://schemas.microsoft.com/office/powerpoint/2010/main" val="2865028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5EE942B-C280-5F2E-0F1B-15F65A1BC5D1}"/>
              </a:ext>
            </a:extLst>
          </p:cNvPr>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專題說明</a:t>
            </a:r>
          </a:p>
        </p:txBody>
      </p:sp>
      <p:sp>
        <p:nvSpPr>
          <p:cNvPr id="3" name="內容版面配置區 2">
            <a:extLst>
              <a:ext uri="{FF2B5EF4-FFF2-40B4-BE49-F238E27FC236}">
                <a16:creationId xmlns:a16="http://schemas.microsoft.com/office/drawing/2014/main" id="{892045A9-BCEB-BB2A-02A3-CFFA46EA9CD4}"/>
              </a:ext>
            </a:extLst>
          </p:cNvPr>
          <p:cNvSpPr>
            <a:spLocks noGrp="1"/>
          </p:cNvSpPr>
          <p:nvPr>
            <p:ph idx="1"/>
          </p:nvPr>
        </p:nvSpPr>
        <p:spPr/>
        <p:txBody>
          <a:bodyPr/>
          <a:lstStyle/>
          <a:p>
            <a:r>
              <a:rPr lang="zh-TW" altLang="en-US" dirty="0">
                <a:latin typeface="標楷體" panose="03000509000000000000" pitchFamily="65" charset="-120"/>
                <a:ea typeface="標楷體" panose="03000509000000000000" pitchFamily="65" charset="-120"/>
              </a:rPr>
              <a:t>本專題主要使用 </a:t>
            </a:r>
            <a:r>
              <a:rPr lang="en-US" altLang="zh-TW" dirty="0">
                <a:latin typeface="標楷體" panose="03000509000000000000" pitchFamily="65" charset="-120"/>
                <a:ea typeface="標楷體" panose="03000509000000000000" pitchFamily="65" charset="-120"/>
              </a:rPr>
              <a:t>OpenCV </a:t>
            </a:r>
            <a:r>
              <a:rPr lang="zh-TW" altLang="en-US" dirty="0">
                <a:latin typeface="標楷體" panose="03000509000000000000" pitchFamily="65" charset="-120"/>
                <a:ea typeface="標楷體" panose="03000509000000000000" pitchFamily="65" charset="-120"/>
              </a:rPr>
              <a:t>透過自行訓練並建立 </a:t>
            </a:r>
            <a:r>
              <a:rPr lang="en-US" altLang="zh-TW" dirty="0" err="1">
                <a:latin typeface="標楷體" panose="03000509000000000000" pitchFamily="65" charset="-120"/>
                <a:ea typeface="標楷體" panose="03000509000000000000" pitchFamily="65" charset="-120"/>
              </a:rPr>
              <a:t>Haar</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特徵分類器「偵測車牌」模型，先偵測框選車牌及原始圖片轉換尺寸及偵測、然後將擷取車牌號碼產生圖形、再來是去除畸零地把邊緣的輪廓、雜訊、黑色部分去除、最後將用光學辨識軟體 </a:t>
            </a:r>
            <a:r>
              <a:rPr lang="en-US" altLang="zh-TW" dirty="0">
                <a:latin typeface="標楷體" panose="03000509000000000000" pitchFamily="65" charset="-120"/>
                <a:ea typeface="標楷體" panose="03000509000000000000" pitchFamily="65" charset="-120"/>
              </a:rPr>
              <a:t>OCR </a:t>
            </a:r>
            <a:r>
              <a:rPr lang="zh-TW" altLang="en-US" dirty="0">
                <a:latin typeface="標楷體" panose="03000509000000000000" pitchFamily="65" charset="-120"/>
                <a:ea typeface="標楷體" panose="03000509000000000000" pitchFamily="65" charset="-120"/>
              </a:rPr>
              <a:t>辨識出車牌號碼，就會出現以下結果及結論。</a:t>
            </a:r>
          </a:p>
        </p:txBody>
      </p:sp>
    </p:spTree>
    <p:extLst>
      <p:ext uri="{BB962C8B-B14F-4D97-AF65-F5344CB8AC3E}">
        <p14:creationId xmlns:p14="http://schemas.microsoft.com/office/powerpoint/2010/main" val="3724072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BA7A0F-F74D-8B9F-5BE6-9ACA2078527C}"/>
              </a:ext>
            </a:extLst>
          </p:cNvPr>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相關文章</a:t>
            </a:r>
          </a:p>
        </p:txBody>
      </p:sp>
      <p:sp>
        <p:nvSpPr>
          <p:cNvPr id="3" name="內容版面配置區 2">
            <a:extLst>
              <a:ext uri="{FF2B5EF4-FFF2-40B4-BE49-F238E27FC236}">
                <a16:creationId xmlns:a16="http://schemas.microsoft.com/office/drawing/2014/main" id="{A4EAF36A-2C40-DA13-F0E5-10FD0D39D297}"/>
              </a:ext>
            </a:extLst>
          </p:cNvPr>
          <p:cNvSpPr>
            <a:spLocks noGrp="1"/>
          </p:cNvSpPr>
          <p:nvPr>
            <p:ph idx="1"/>
          </p:nvPr>
        </p:nvSpPr>
        <p:spPr/>
        <p:txBody>
          <a:bodyPr/>
          <a:lstStyle/>
          <a:p>
            <a:r>
              <a:rPr lang="en-US" altLang="zh-TW" dirty="0">
                <a:latin typeface="標楷體" panose="03000509000000000000" pitchFamily="65" charset="-120"/>
                <a:ea typeface="標楷體" panose="03000509000000000000" pitchFamily="65" charset="-120"/>
              </a:rPr>
              <a:t>OpenCV</a:t>
            </a:r>
            <a:r>
              <a:rPr lang="zh-TW" altLang="en-US" dirty="0">
                <a:latin typeface="標楷體" panose="03000509000000000000" pitchFamily="65" charset="-120"/>
                <a:ea typeface="標楷體" panose="03000509000000000000" pitchFamily="65" charset="-120"/>
              </a:rPr>
              <a:t>最為人稱道為「人臉辨識」。使用</a:t>
            </a:r>
            <a:r>
              <a:rPr lang="en-US" altLang="zh-TW" dirty="0">
                <a:latin typeface="標楷體" panose="03000509000000000000" pitchFamily="65" charset="-120"/>
                <a:ea typeface="標楷體" panose="03000509000000000000" pitchFamily="65" charset="-120"/>
              </a:rPr>
              <a:t>OpenCV</a:t>
            </a:r>
            <a:r>
              <a:rPr lang="zh-TW" altLang="en-US" dirty="0">
                <a:latin typeface="標楷體" panose="03000509000000000000" pitchFamily="65" charset="-120"/>
                <a:ea typeface="標楷體" panose="03000509000000000000" pitchFamily="65" charset="-120"/>
              </a:rPr>
              <a:t>提供的</a:t>
            </a:r>
            <a:r>
              <a:rPr lang="en-US" altLang="zh-TW" dirty="0" err="1">
                <a:latin typeface="標楷體" panose="03000509000000000000" pitchFamily="65" charset="-120"/>
                <a:ea typeface="標楷體" panose="03000509000000000000" pitchFamily="65" charset="-120"/>
              </a:rPr>
              <a:t>Haar</a:t>
            </a:r>
            <a:r>
              <a:rPr lang="zh-TW" altLang="en-US" dirty="0">
                <a:latin typeface="標楷體" panose="03000509000000000000" pitchFamily="65" charset="-120"/>
                <a:ea typeface="標楷體" panose="03000509000000000000" pitchFamily="65" charset="-120"/>
              </a:rPr>
              <a:t>特徵分類器人臉模型，即可輕鬆偵測人臉位置。是否有辦法偵測其他物件嗎？如果要偵測前請先建立</a:t>
            </a:r>
            <a:r>
              <a:rPr lang="en-US" altLang="zh-TW" dirty="0" err="1">
                <a:latin typeface="標楷體" panose="03000509000000000000" pitchFamily="65" charset="-120"/>
                <a:ea typeface="標楷體" panose="03000509000000000000" pitchFamily="65" charset="-120"/>
              </a:rPr>
              <a:t>Haar</a:t>
            </a:r>
            <a:r>
              <a:rPr lang="zh-TW" altLang="en-US" dirty="0">
                <a:latin typeface="標楷體" panose="03000509000000000000" pitchFamily="65" charset="-120"/>
                <a:ea typeface="標楷體" panose="03000509000000000000" pitchFamily="65" charset="-120"/>
              </a:rPr>
              <a:t>特徵分類器模型，然後再建立</a:t>
            </a:r>
            <a:r>
              <a:rPr lang="en-US" altLang="zh-TW" dirty="0" err="1">
                <a:latin typeface="標楷體" panose="03000509000000000000" pitchFamily="65" charset="-120"/>
                <a:ea typeface="標楷體" panose="03000509000000000000" pitchFamily="65" charset="-120"/>
              </a:rPr>
              <a:t>Haar</a:t>
            </a:r>
            <a:r>
              <a:rPr lang="zh-TW" altLang="en-US" dirty="0">
                <a:latin typeface="標楷體" panose="03000509000000000000" pitchFamily="65" charset="-120"/>
                <a:ea typeface="標楷體" panose="03000509000000000000" pitchFamily="65" charset="-120"/>
              </a:rPr>
              <a:t>特徵分類器偵測物件。</a:t>
            </a:r>
          </a:p>
          <a:p>
            <a:r>
              <a:rPr lang="zh-TW" altLang="en-US" dirty="0">
                <a:latin typeface="標楷體" panose="03000509000000000000" pitchFamily="65" charset="-120"/>
                <a:ea typeface="標楷體" panose="03000509000000000000" pitchFamily="65" charset="-120"/>
              </a:rPr>
              <a:t>　　目前許多停車場已使用自動車牌辨識系統經營以節省人力成本，我們希望一步一步地探究影像辨識的技術並模擬建立停車場自動車牌辨識系統，從無到有自行訓練並建立 </a:t>
            </a:r>
            <a:r>
              <a:rPr lang="en-US" altLang="zh-TW" dirty="0" err="1">
                <a:latin typeface="標楷體" panose="03000509000000000000" pitchFamily="65" charset="-120"/>
                <a:ea typeface="標楷體" panose="03000509000000000000" pitchFamily="65" charset="-120"/>
              </a:rPr>
              <a:t>Haar</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特徵分類器「偵測車牌」模型，先偵測框選車牌，接著將用光學辨識軟體 </a:t>
            </a:r>
            <a:r>
              <a:rPr lang="en-US" altLang="zh-TW" dirty="0">
                <a:latin typeface="標楷體" panose="03000509000000000000" pitchFamily="65" charset="-120"/>
                <a:ea typeface="標楷體" panose="03000509000000000000" pitchFamily="65" charset="-120"/>
              </a:rPr>
              <a:t>OCR </a:t>
            </a:r>
            <a:r>
              <a:rPr lang="zh-TW" altLang="en-US" dirty="0">
                <a:latin typeface="標楷體" panose="03000509000000000000" pitchFamily="65" charset="-120"/>
                <a:ea typeface="標楷體" panose="03000509000000000000" pitchFamily="65" charset="-120"/>
              </a:rPr>
              <a:t>辨識出車牌號碼。 </a:t>
            </a:r>
          </a:p>
        </p:txBody>
      </p:sp>
    </p:spTree>
    <p:extLst>
      <p:ext uri="{BB962C8B-B14F-4D97-AF65-F5344CB8AC3E}">
        <p14:creationId xmlns:p14="http://schemas.microsoft.com/office/powerpoint/2010/main" val="1904147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5EB95549-9C0F-6D06-063D-33D5F7D6B731}"/>
              </a:ext>
            </a:extLst>
          </p:cNvPr>
          <p:cNvSpPr>
            <a:spLocks noGrp="1"/>
          </p:cNvSpPr>
          <p:nvPr>
            <p:ph idx="1"/>
          </p:nvPr>
        </p:nvSpPr>
        <p:spPr>
          <a:xfrm>
            <a:off x="838200" y="794994"/>
            <a:ext cx="10515600" cy="876490"/>
          </a:xfrm>
        </p:spPr>
        <p:txBody>
          <a:bodyPr/>
          <a:lstStyle/>
          <a:p>
            <a:r>
              <a:rPr lang="zh-TW" altLang="en-US" dirty="0">
                <a:latin typeface="標楷體" panose="03000509000000000000" pitchFamily="65" charset="-120"/>
                <a:ea typeface="標楷體" panose="03000509000000000000" pitchFamily="65" charset="-120"/>
              </a:rPr>
              <a:t>　</a:t>
            </a:r>
            <a:r>
              <a:rPr lang="en-US" altLang="zh-TW" dirty="0" err="1">
                <a:latin typeface="標楷體" panose="03000509000000000000" pitchFamily="65" charset="-120"/>
                <a:ea typeface="標楷體" panose="03000509000000000000" pitchFamily="65" charset="-120"/>
              </a:rPr>
              <a:t>Haar</a:t>
            </a:r>
            <a:r>
              <a:rPr lang="zh-TW" altLang="en-US" dirty="0">
                <a:latin typeface="標楷體" panose="03000509000000000000" pitchFamily="65" charset="-120"/>
                <a:ea typeface="標楷體" panose="03000509000000000000" pitchFamily="65" charset="-120"/>
              </a:rPr>
              <a:t>特徵是用來描繪一張圖片。</a:t>
            </a:r>
            <a:r>
              <a:rPr lang="en-US" altLang="zh-TW" dirty="0" err="1">
                <a:latin typeface="標楷體" panose="03000509000000000000" pitchFamily="65" charset="-120"/>
                <a:ea typeface="標楷體" panose="03000509000000000000" pitchFamily="65" charset="-120"/>
              </a:rPr>
              <a:t>Haar</a:t>
            </a:r>
            <a:r>
              <a:rPr lang="zh-TW" altLang="en-US" dirty="0">
                <a:latin typeface="標楷體" panose="03000509000000000000" pitchFamily="65" charset="-120"/>
                <a:ea typeface="標楷體" panose="03000509000000000000" pitchFamily="65" charset="-120"/>
              </a:rPr>
              <a:t>特徵是一個矩形區域，可進行選轉、平移、縮放等，有</a:t>
            </a:r>
            <a:r>
              <a:rPr lang="en-US" altLang="zh-TW" dirty="0">
                <a:latin typeface="標楷體" panose="03000509000000000000" pitchFamily="65" charset="-120"/>
                <a:ea typeface="標楷體" panose="03000509000000000000" pitchFamily="65" charset="-120"/>
              </a:rPr>
              <a:t>15</a:t>
            </a:r>
            <a:r>
              <a:rPr lang="zh-TW" altLang="en-US" dirty="0">
                <a:latin typeface="標楷體" panose="03000509000000000000" pitchFamily="65" charset="-120"/>
                <a:ea typeface="標楷體" panose="03000509000000000000" pitchFamily="65" charset="-120"/>
              </a:rPr>
              <a:t>個類型。</a:t>
            </a:r>
            <a:endParaRPr lang="en-US" altLang="zh-TW" dirty="0">
              <a:latin typeface="標楷體" panose="03000509000000000000" pitchFamily="65" charset="-120"/>
              <a:ea typeface="標楷體" panose="03000509000000000000" pitchFamily="65" charset="-120"/>
            </a:endParaRPr>
          </a:p>
          <a:p>
            <a:endParaRPr lang="zh-TW" altLang="en-US" dirty="0"/>
          </a:p>
        </p:txBody>
      </p:sp>
      <p:pic>
        <p:nvPicPr>
          <p:cNvPr id="4" name="圖片 3">
            <a:extLst>
              <a:ext uri="{FF2B5EF4-FFF2-40B4-BE49-F238E27FC236}">
                <a16:creationId xmlns:a16="http://schemas.microsoft.com/office/drawing/2014/main" id="{2DF5C419-2C17-305B-F54A-5ECD0D136598}"/>
              </a:ext>
            </a:extLst>
          </p:cNvPr>
          <p:cNvPicPr>
            <a:picLocks noChangeAspect="1"/>
          </p:cNvPicPr>
          <p:nvPr/>
        </p:nvPicPr>
        <p:blipFill>
          <a:blip r:embed="rId2"/>
          <a:stretch>
            <a:fillRect/>
          </a:stretch>
        </p:blipFill>
        <p:spPr>
          <a:xfrm>
            <a:off x="2856000" y="1749677"/>
            <a:ext cx="6480000" cy="4593599"/>
          </a:xfrm>
          <a:prstGeom prst="rect">
            <a:avLst/>
          </a:prstGeom>
        </p:spPr>
      </p:pic>
    </p:spTree>
    <p:extLst>
      <p:ext uri="{BB962C8B-B14F-4D97-AF65-F5344CB8AC3E}">
        <p14:creationId xmlns:p14="http://schemas.microsoft.com/office/powerpoint/2010/main" val="801305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8EB3BC66-2A01-BF19-0CB8-80FA4E8EB4C8}"/>
              </a:ext>
            </a:extLst>
          </p:cNvPr>
          <p:cNvSpPr>
            <a:spLocks noGrp="1"/>
          </p:cNvSpPr>
          <p:nvPr>
            <p:ph idx="1"/>
          </p:nvPr>
        </p:nvSpPr>
        <p:spPr/>
        <p:txBody>
          <a:bodyPr/>
          <a:lstStyle/>
          <a:p>
            <a:r>
              <a:rPr lang="en-US" altLang="zh-TW" dirty="0" err="1">
                <a:latin typeface="標楷體" panose="03000509000000000000" pitchFamily="65" charset="-120"/>
                <a:ea typeface="標楷體" panose="03000509000000000000" pitchFamily="65" charset="-120"/>
              </a:rPr>
              <a:t>Haar</a:t>
            </a:r>
            <a:r>
              <a:rPr lang="zh-TW" altLang="en-US" dirty="0">
                <a:latin typeface="標楷體" panose="03000509000000000000" pitchFamily="65" charset="-120"/>
                <a:ea typeface="標楷體" panose="03000509000000000000" pitchFamily="65" charset="-120"/>
              </a:rPr>
              <a:t>特徵分類器可以幫我們在圖片或照片中偵測某特定物件是否存在，並可得知該物件的座標位置。這個套特定物件可以是人臉、交通標誌、動物等使用</a:t>
            </a:r>
            <a:r>
              <a:rPr lang="en-US" altLang="zh-TW" dirty="0" err="1">
                <a:latin typeface="標楷體" panose="03000509000000000000" pitchFamily="65" charset="-120"/>
                <a:ea typeface="標楷體" panose="03000509000000000000" pitchFamily="65" charset="-120"/>
              </a:rPr>
              <a:t>Haar</a:t>
            </a:r>
            <a:r>
              <a:rPr lang="zh-TW" altLang="en-US" dirty="0">
                <a:latin typeface="標楷體" panose="03000509000000000000" pitchFamily="65" charset="-120"/>
                <a:ea typeface="標楷體" panose="03000509000000000000" pitchFamily="65" charset="-120"/>
              </a:rPr>
              <a:t>特徵分類器模型分析。</a:t>
            </a:r>
          </a:p>
        </p:txBody>
      </p:sp>
    </p:spTree>
    <p:extLst>
      <p:ext uri="{BB962C8B-B14F-4D97-AF65-F5344CB8AC3E}">
        <p14:creationId xmlns:p14="http://schemas.microsoft.com/office/powerpoint/2010/main" val="1039536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557947-7273-F419-70D8-0A53800C2B00}"/>
              </a:ext>
            </a:extLst>
          </p:cNvPr>
          <p:cNvSpPr>
            <a:spLocks noGrp="1"/>
          </p:cNvSpPr>
          <p:nvPr>
            <p:ph type="title"/>
          </p:nvPr>
        </p:nvSpPr>
        <p:spPr>
          <a:xfrm>
            <a:off x="1160042" y="892263"/>
            <a:ext cx="2671916" cy="590118"/>
          </a:xfrm>
        </p:spPr>
        <p:txBody>
          <a:bodyPr/>
          <a:lstStyle/>
          <a:p>
            <a:r>
              <a:rPr lang="zh-TW" altLang="en-US" dirty="0">
                <a:latin typeface="標楷體" panose="03000509000000000000" pitchFamily="65" charset="-120"/>
                <a:ea typeface="標楷體" panose="03000509000000000000" pitchFamily="65" charset="-120"/>
              </a:rPr>
              <a:t>實作</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說明</a:t>
            </a:r>
            <a:r>
              <a:rPr lang="en-US" altLang="zh-TW" dirty="0">
                <a:latin typeface="標楷體" panose="03000509000000000000" pitchFamily="65" charset="-120"/>
                <a:ea typeface="標楷體" panose="03000509000000000000" pitchFamily="65" charset="-120"/>
              </a:rPr>
              <a:t>)</a:t>
            </a:r>
            <a:endParaRPr lang="zh-TW" altLang="en-US" dirty="0">
              <a:latin typeface="標楷體" panose="03000509000000000000" pitchFamily="65" charset="-120"/>
              <a:ea typeface="標楷體" panose="03000509000000000000" pitchFamily="65" charset="-120"/>
            </a:endParaRPr>
          </a:p>
        </p:txBody>
      </p:sp>
      <p:sp>
        <p:nvSpPr>
          <p:cNvPr id="3" name="內容版面配置區 2">
            <a:extLst>
              <a:ext uri="{FF2B5EF4-FFF2-40B4-BE49-F238E27FC236}">
                <a16:creationId xmlns:a16="http://schemas.microsoft.com/office/drawing/2014/main" id="{38D018AA-981F-7EE3-EB0C-2BBF27F9ECF0}"/>
              </a:ext>
            </a:extLst>
          </p:cNvPr>
          <p:cNvSpPr>
            <a:spLocks noGrp="1"/>
          </p:cNvSpPr>
          <p:nvPr>
            <p:ph sz="half" idx="1"/>
          </p:nvPr>
        </p:nvSpPr>
        <p:spPr>
          <a:xfrm>
            <a:off x="838200" y="1690688"/>
            <a:ext cx="10598400" cy="1296000"/>
          </a:xfrm>
        </p:spPr>
        <p:txBody>
          <a:bodyPr>
            <a:normAutofit/>
          </a:bodyPr>
          <a:lstStyle/>
          <a:p>
            <a:r>
              <a:rPr lang="zh-TW" altLang="en-US" dirty="0">
                <a:latin typeface="標楷體" panose="03000509000000000000" pitchFamily="65" charset="-120"/>
                <a:ea typeface="標楷體" panose="03000509000000000000" pitchFamily="65" charset="-120"/>
              </a:rPr>
              <a:t>首先將要辨識的車牌圖片檔案更名為車牌號碼，使用</a:t>
            </a:r>
            <a:r>
              <a:rPr lang="en-US" altLang="zh-TW" dirty="0">
                <a:latin typeface="標楷體" panose="03000509000000000000" pitchFamily="65" charset="-120"/>
                <a:ea typeface="標楷體" panose="03000509000000000000" pitchFamily="65" charset="-120"/>
              </a:rPr>
              <a:t>OCR</a:t>
            </a:r>
            <a:r>
              <a:rPr lang="zh-TW" altLang="en-US" dirty="0">
                <a:latin typeface="標楷體" panose="03000509000000000000" pitchFamily="65" charset="-120"/>
                <a:ea typeface="標楷體" panose="03000509000000000000" pitchFamily="65" charset="-120"/>
              </a:rPr>
              <a:t>辨識車牌號碼後就可以將辨識結果與檔名名稱直接做比對，能不能辨識正確。</a:t>
            </a:r>
          </a:p>
          <a:p>
            <a:r>
              <a:rPr lang="zh-TW" altLang="en-US" dirty="0">
                <a:latin typeface="標楷體" panose="03000509000000000000" pitchFamily="65" charset="-120"/>
                <a:ea typeface="標楷體" panose="03000509000000000000" pitchFamily="65" charset="-120"/>
              </a:rPr>
              <a:t>註：執行套件</a:t>
            </a:r>
            <a:r>
              <a:rPr lang="en-US" altLang="zh-TW" dirty="0">
                <a:latin typeface="標楷體" panose="03000509000000000000" pitchFamily="65" charset="-120"/>
                <a:ea typeface="標楷體" panose="03000509000000000000" pitchFamily="65" charset="-120"/>
              </a:rPr>
              <a:t>pip install pillow</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pip install </a:t>
            </a:r>
            <a:r>
              <a:rPr lang="en-US" altLang="zh-TW" dirty="0" err="1">
                <a:latin typeface="標楷體" panose="03000509000000000000" pitchFamily="65" charset="-120"/>
                <a:ea typeface="標楷體" panose="03000509000000000000" pitchFamily="65" charset="-120"/>
              </a:rPr>
              <a:t>opencv</a:t>
            </a:r>
            <a:r>
              <a:rPr lang="en-US" altLang="zh-TW" dirty="0">
                <a:latin typeface="標楷體" panose="03000509000000000000" pitchFamily="65" charset="-120"/>
                <a:ea typeface="標楷體" panose="03000509000000000000" pitchFamily="65" charset="-120"/>
              </a:rPr>
              <a:t>-python</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pip install </a:t>
            </a:r>
            <a:r>
              <a:rPr lang="en-US" altLang="zh-TW" dirty="0" err="1">
                <a:latin typeface="標楷體" panose="03000509000000000000" pitchFamily="65" charset="-120"/>
                <a:ea typeface="標楷體" panose="03000509000000000000" pitchFamily="65" charset="-120"/>
              </a:rPr>
              <a:t>pyocr</a:t>
            </a:r>
            <a:r>
              <a:rPr lang="zh-TW" altLang="en-US" dirty="0">
                <a:latin typeface="標楷體" panose="03000509000000000000" pitchFamily="65" charset="-120"/>
                <a:ea typeface="標楷體" panose="03000509000000000000" pitchFamily="65" charset="-120"/>
              </a:rPr>
              <a:t>。</a:t>
            </a:r>
          </a:p>
        </p:txBody>
      </p:sp>
      <p:pic>
        <p:nvPicPr>
          <p:cNvPr id="7" name="圖片 6">
            <a:extLst>
              <a:ext uri="{FF2B5EF4-FFF2-40B4-BE49-F238E27FC236}">
                <a16:creationId xmlns:a16="http://schemas.microsoft.com/office/drawing/2014/main" id="{979428FF-FAA7-94AF-4F84-CD096A64C7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6000" y="3871313"/>
            <a:ext cx="7200000" cy="1799365"/>
          </a:xfrm>
          <a:prstGeom prst="rect">
            <a:avLst/>
          </a:prstGeom>
        </p:spPr>
      </p:pic>
    </p:spTree>
    <p:extLst>
      <p:ext uri="{BB962C8B-B14F-4D97-AF65-F5344CB8AC3E}">
        <p14:creationId xmlns:p14="http://schemas.microsoft.com/office/powerpoint/2010/main" val="2562840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47F9CC-CAF0-8535-8DCE-DC1D3B5160D3}"/>
              </a:ext>
            </a:extLst>
          </p:cNvPr>
          <p:cNvSpPr>
            <a:spLocks noGrp="1"/>
          </p:cNvSpPr>
          <p:nvPr>
            <p:ph type="title"/>
          </p:nvPr>
        </p:nvSpPr>
        <p:spPr/>
        <p:txBody>
          <a:bodyPr/>
          <a:lstStyle/>
          <a:p>
            <a:r>
              <a:rPr lang="en-US" altLang="zh-TW" dirty="0">
                <a:latin typeface="標楷體" panose="03000509000000000000" pitchFamily="65" charset="-120"/>
                <a:ea typeface="標楷體" panose="03000509000000000000" pitchFamily="65" charset="-120"/>
              </a:rPr>
              <a:t>(1). </a:t>
            </a:r>
            <a:r>
              <a:rPr lang="zh-TW" altLang="en-US" dirty="0">
                <a:latin typeface="標楷體" panose="03000509000000000000" pitchFamily="65" charset="-120"/>
                <a:ea typeface="標楷體" panose="03000509000000000000" pitchFamily="65" charset="-120"/>
              </a:rPr>
              <a:t>原始圖片轉換尺寸及偵測：</a:t>
            </a:r>
          </a:p>
        </p:txBody>
      </p:sp>
      <p:sp>
        <p:nvSpPr>
          <p:cNvPr id="3" name="內容版面配置區 2">
            <a:extLst>
              <a:ext uri="{FF2B5EF4-FFF2-40B4-BE49-F238E27FC236}">
                <a16:creationId xmlns:a16="http://schemas.microsoft.com/office/drawing/2014/main" id="{1626CDA5-A210-F7D4-710E-89DDB22078B5}"/>
              </a:ext>
            </a:extLst>
          </p:cNvPr>
          <p:cNvSpPr>
            <a:spLocks noGrp="1"/>
          </p:cNvSpPr>
          <p:nvPr>
            <p:ph sz="half" idx="1"/>
          </p:nvPr>
        </p:nvSpPr>
        <p:spPr/>
        <p:txBody>
          <a:bodyPr/>
          <a:lstStyle/>
          <a:p>
            <a:r>
              <a:rPr lang="zh-TW" altLang="en-US" dirty="0">
                <a:latin typeface="標楷體" panose="03000509000000000000" pitchFamily="65" charset="-120"/>
                <a:ea typeface="標楷體" panose="03000509000000000000" pitchFamily="65" charset="-120"/>
              </a:rPr>
              <a:t>將所有數位相機拍攝或下載圖片尺寸轉換為</a:t>
            </a:r>
            <a:r>
              <a:rPr lang="en-US" altLang="zh-TW" dirty="0">
                <a:latin typeface="標楷體" panose="03000509000000000000" pitchFamily="65" charset="-120"/>
                <a:ea typeface="標楷體" panose="03000509000000000000" pitchFamily="65" charset="-120"/>
              </a:rPr>
              <a:t>300x225</a:t>
            </a:r>
            <a:r>
              <a:rPr lang="zh-TW" altLang="en-US" dirty="0">
                <a:latin typeface="標楷體" panose="03000509000000000000" pitchFamily="65" charset="-120"/>
                <a:ea typeface="標楷體" panose="03000509000000000000" pitchFamily="65" charset="-120"/>
              </a:rPr>
              <a:t>像素圖形，也使用</a:t>
            </a:r>
            <a:r>
              <a:rPr lang="en-US" altLang="zh-TW" dirty="0">
                <a:latin typeface="標楷體" panose="03000509000000000000" pitchFamily="65" charset="-120"/>
                <a:ea typeface="標楷體" panose="03000509000000000000" pitchFamily="65" charset="-120"/>
              </a:rPr>
              <a:t>&lt;haar_carplate.xml&gt;</a:t>
            </a:r>
            <a:r>
              <a:rPr lang="zh-TW" altLang="en-US" dirty="0">
                <a:latin typeface="標楷體" panose="03000509000000000000" pitchFamily="65" charset="-120"/>
                <a:ea typeface="標楷體" panose="03000509000000000000" pitchFamily="65" charset="-120"/>
              </a:rPr>
              <a:t>模型做偵測。</a:t>
            </a:r>
          </a:p>
        </p:txBody>
      </p:sp>
      <p:sp>
        <p:nvSpPr>
          <p:cNvPr id="4" name="內容版面配置區 3">
            <a:extLst>
              <a:ext uri="{FF2B5EF4-FFF2-40B4-BE49-F238E27FC236}">
                <a16:creationId xmlns:a16="http://schemas.microsoft.com/office/drawing/2014/main" id="{6C4C417E-3A32-E498-C116-007F94A6291D}"/>
              </a:ext>
            </a:extLst>
          </p:cNvPr>
          <p:cNvSpPr>
            <a:spLocks noGrp="1"/>
          </p:cNvSpPr>
          <p:nvPr>
            <p:ph sz="half" idx="2"/>
          </p:nvPr>
        </p:nvSpPr>
        <p:spPr/>
        <p:txBody>
          <a:bodyPr/>
          <a:lstStyle/>
          <a:p>
            <a:endParaRPr lang="en-US" altLang="zh-TW" dirty="0"/>
          </a:p>
          <a:p>
            <a:endParaRPr lang="zh-TW" altLang="en-US" dirty="0"/>
          </a:p>
        </p:txBody>
      </p:sp>
      <p:pic>
        <p:nvPicPr>
          <p:cNvPr id="8" name="圖片 7">
            <a:extLst>
              <a:ext uri="{FF2B5EF4-FFF2-40B4-BE49-F238E27FC236}">
                <a16:creationId xmlns:a16="http://schemas.microsoft.com/office/drawing/2014/main" id="{4F875AD3-FD43-4091-C5EF-2396B6D767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6315" y="1792210"/>
            <a:ext cx="3600000" cy="2699081"/>
          </a:xfrm>
          <a:prstGeom prst="rect">
            <a:avLst/>
          </a:prstGeom>
        </p:spPr>
      </p:pic>
      <p:pic>
        <p:nvPicPr>
          <p:cNvPr id="11" name="圖片 10">
            <a:extLst>
              <a:ext uri="{FF2B5EF4-FFF2-40B4-BE49-F238E27FC236}">
                <a16:creationId xmlns:a16="http://schemas.microsoft.com/office/drawing/2014/main" id="{29FE9378-D48B-D827-9327-58C9AC2E62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3800" y="4872875"/>
            <a:ext cx="2160000" cy="1620000"/>
          </a:xfrm>
          <a:prstGeom prst="rect">
            <a:avLst/>
          </a:prstGeom>
        </p:spPr>
      </p:pic>
      <p:sp>
        <p:nvSpPr>
          <p:cNvPr id="12" name="箭號: 上彎 11">
            <a:extLst>
              <a:ext uri="{FF2B5EF4-FFF2-40B4-BE49-F238E27FC236}">
                <a16:creationId xmlns:a16="http://schemas.microsoft.com/office/drawing/2014/main" id="{DE883EA3-750F-79F2-87CE-0EB0EA420550}"/>
              </a:ext>
            </a:extLst>
          </p:cNvPr>
          <p:cNvSpPr/>
          <p:nvPr/>
        </p:nvSpPr>
        <p:spPr>
          <a:xfrm rot="5400000">
            <a:off x="7996935" y="4817636"/>
            <a:ext cx="953729" cy="776749"/>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Tree>
    <p:extLst>
      <p:ext uri="{BB962C8B-B14F-4D97-AF65-F5344CB8AC3E}">
        <p14:creationId xmlns:p14="http://schemas.microsoft.com/office/powerpoint/2010/main" val="1980444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055D92-3869-89BE-A388-109068F43E18}"/>
              </a:ext>
            </a:extLst>
          </p:cNvPr>
          <p:cNvSpPr>
            <a:spLocks noGrp="1"/>
          </p:cNvSpPr>
          <p:nvPr>
            <p:ph type="title"/>
          </p:nvPr>
        </p:nvSpPr>
        <p:spPr/>
        <p:txBody>
          <a:bodyPr/>
          <a:lstStyle/>
          <a:p>
            <a:r>
              <a:rPr lang="en-US" altLang="zh-TW" dirty="0">
                <a:latin typeface="標楷體" panose="03000509000000000000" pitchFamily="65" charset="-120"/>
                <a:ea typeface="標楷體" panose="03000509000000000000" pitchFamily="65" charset="-120"/>
              </a:rPr>
              <a:t>(2). </a:t>
            </a:r>
            <a:r>
              <a:rPr lang="zh-TW" altLang="en-US" dirty="0">
                <a:latin typeface="標楷體" panose="03000509000000000000" pitchFamily="65" charset="-120"/>
                <a:ea typeface="標楷體" panose="03000509000000000000" pitchFamily="65" charset="-120"/>
              </a:rPr>
              <a:t>擷取車牌號碼圖形：</a:t>
            </a:r>
          </a:p>
        </p:txBody>
      </p:sp>
      <p:sp>
        <p:nvSpPr>
          <p:cNvPr id="3" name="內容版面配置區 2">
            <a:extLst>
              <a:ext uri="{FF2B5EF4-FFF2-40B4-BE49-F238E27FC236}">
                <a16:creationId xmlns:a16="http://schemas.microsoft.com/office/drawing/2014/main" id="{D0E6AEE9-972E-2E6C-253F-1C9766112DB1}"/>
              </a:ext>
            </a:extLst>
          </p:cNvPr>
          <p:cNvSpPr>
            <a:spLocks noGrp="1"/>
          </p:cNvSpPr>
          <p:nvPr>
            <p:ph sz="half" idx="1"/>
          </p:nvPr>
        </p:nvSpPr>
        <p:spPr/>
        <p:txBody>
          <a:bodyPr/>
          <a:lstStyle/>
          <a:p>
            <a:r>
              <a:rPr lang="zh-TW" altLang="en-US" dirty="0">
                <a:latin typeface="標楷體" panose="03000509000000000000" pitchFamily="65" charset="-120"/>
                <a:ea typeface="標楷體" panose="03000509000000000000" pitchFamily="65" charset="-120"/>
              </a:rPr>
              <a:t>使用</a:t>
            </a:r>
            <a:r>
              <a:rPr lang="en-US" altLang="zh-TW" dirty="0" err="1">
                <a:latin typeface="標楷體" panose="03000509000000000000" pitchFamily="65" charset="-120"/>
                <a:ea typeface="標楷體" panose="03000509000000000000" pitchFamily="65" charset="-120"/>
              </a:rPr>
              <a:t>Haar</a:t>
            </a:r>
            <a:r>
              <a:rPr lang="zh-TW" altLang="en-US" dirty="0">
                <a:latin typeface="標楷體" panose="03000509000000000000" pitchFamily="65" charset="-120"/>
                <a:ea typeface="標楷體" panose="03000509000000000000" pitchFamily="65" charset="-120"/>
              </a:rPr>
              <a:t>特徵分類器</a:t>
            </a:r>
            <a:r>
              <a:rPr lang="en-US" altLang="zh-TW" dirty="0">
                <a:latin typeface="標楷體" panose="03000509000000000000" pitchFamily="65" charset="-120"/>
                <a:ea typeface="標楷體" panose="03000509000000000000" pitchFamily="65" charset="-120"/>
              </a:rPr>
              <a:t>&lt;haar_carplate.xml&gt;</a:t>
            </a:r>
            <a:r>
              <a:rPr lang="zh-TW" altLang="en-US" dirty="0">
                <a:latin typeface="標楷體" panose="03000509000000000000" pitchFamily="65" charset="-120"/>
                <a:ea typeface="標楷體" panose="03000509000000000000" pitchFamily="65" charset="-120"/>
              </a:rPr>
              <a:t>模型框選出車牌號碼，並將車牌號碼圖形擷取下來。</a:t>
            </a:r>
          </a:p>
        </p:txBody>
      </p:sp>
      <p:pic>
        <p:nvPicPr>
          <p:cNvPr id="6" name="內容版面配置區 5">
            <a:extLst>
              <a:ext uri="{FF2B5EF4-FFF2-40B4-BE49-F238E27FC236}">
                <a16:creationId xmlns:a16="http://schemas.microsoft.com/office/drawing/2014/main" id="{F78EEE6A-1B9B-6BBC-389C-A8F6BBD290F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60692" y="1825625"/>
            <a:ext cx="5181600" cy="3553097"/>
          </a:xfrm>
        </p:spPr>
      </p:pic>
    </p:spTree>
    <p:extLst>
      <p:ext uri="{BB962C8B-B14F-4D97-AF65-F5344CB8AC3E}">
        <p14:creationId xmlns:p14="http://schemas.microsoft.com/office/powerpoint/2010/main" val="1262847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44BB1E-6A27-C2F7-550A-A682A8374EB3}"/>
              </a:ext>
            </a:extLst>
          </p:cNvPr>
          <p:cNvSpPr>
            <a:spLocks noGrp="1"/>
          </p:cNvSpPr>
          <p:nvPr>
            <p:ph type="title"/>
          </p:nvPr>
        </p:nvSpPr>
        <p:spPr/>
        <p:txBody>
          <a:bodyPr/>
          <a:lstStyle/>
          <a:p>
            <a:r>
              <a:rPr lang="en-US" altLang="zh-TW" dirty="0">
                <a:latin typeface="標楷體" panose="03000509000000000000" pitchFamily="65" charset="-120"/>
                <a:ea typeface="標楷體" panose="03000509000000000000" pitchFamily="65" charset="-120"/>
              </a:rPr>
              <a:t>(3). </a:t>
            </a:r>
            <a:r>
              <a:rPr lang="zh-TW" altLang="en-US" dirty="0">
                <a:latin typeface="標楷體" panose="03000509000000000000" pitchFamily="65" charset="-120"/>
                <a:ea typeface="標楷體" panose="03000509000000000000" pitchFamily="65" charset="-120"/>
              </a:rPr>
              <a:t>去除畸零地：</a:t>
            </a:r>
          </a:p>
        </p:txBody>
      </p:sp>
      <p:sp>
        <p:nvSpPr>
          <p:cNvPr id="3" name="內容版面配置區 2">
            <a:extLst>
              <a:ext uri="{FF2B5EF4-FFF2-40B4-BE49-F238E27FC236}">
                <a16:creationId xmlns:a16="http://schemas.microsoft.com/office/drawing/2014/main" id="{321E9D46-9282-9477-970B-E8871CC63983}"/>
              </a:ext>
            </a:extLst>
          </p:cNvPr>
          <p:cNvSpPr>
            <a:spLocks noGrp="1"/>
          </p:cNvSpPr>
          <p:nvPr>
            <p:ph sz="half" idx="1"/>
          </p:nvPr>
        </p:nvSpPr>
        <p:spPr/>
        <p:txBody>
          <a:bodyPr/>
          <a:lstStyle/>
          <a:p>
            <a:r>
              <a:rPr lang="zh-TW" altLang="en-US" dirty="0">
                <a:latin typeface="標楷體" panose="03000509000000000000" pitchFamily="65" charset="-120"/>
                <a:ea typeface="標楷體" panose="03000509000000000000" pitchFamily="65" charset="-120"/>
              </a:rPr>
              <a:t>使用</a:t>
            </a:r>
            <a:r>
              <a:rPr lang="en-US" altLang="zh-TW" dirty="0" err="1">
                <a:latin typeface="標楷體" panose="03000509000000000000" pitchFamily="65" charset="-120"/>
                <a:ea typeface="標楷體" panose="03000509000000000000" pitchFamily="65" charset="-120"/>
              </a:rPr>
              <a:t>ocr</a:t>
            </a:r>
            <a:r>
              <a:rPr lang="zh-TW" altLang="en-US" dirty="0">
                <a:latin typeface="標楷體" panose="03000509000000000000" pitchFamily="65" charset="-120"/>
                <a:ea typeface="標楷體" panose="03000509000000000000" pitchFamily="65" charset="-120"/>
              </a:rPr>
              <a:t>辨識前請先將擷取好的車牌號碼圖形調整輪廓、雜訊、黑色部分去除就會變成乾淨完整的車牌號碼圖形，再用</a:t>
            </a:r>
            <a:r>
              <a:rPr lang="en-US" altLang="zh-TW" dirty="0" err="1">
                <a:latin typeface="標楷體" panose="03000509000000000000" pitchFamily="65" charset="-120"/>
                <a:ea typeface="標楷體" panose="03000509000000000000" pitchFamily="65" charset="-120"/>
              </a:rPr>
              <a:t>ocr</a:t>
            </a:r>
            <a:r>
              <a:rPr lang="zh-TW" altLang="en-US" dirty="0">
                <a:latin typeface="標楷體" panose="03000509000000000000" pitchFamily="65" charset="-120"/>
                <a:ea typeface="標楷體" panose="03000509000000000000" pitchFamily="65" charset="-120"/>
              </a:rPr>
              <a:t>模型進行完整的辨識提高效率。</a:t>
            </a:r>
          </a:p>
        </p:txBody>
      </p:sp>
      <p:pic>
        <p:nvPicPr>
          <p:cNvPr id="5" name="內容版面配置區 4">
            <a:extLst>
              <a:ext uri="{FF2B5EF4-FFF2-40B4-BE49-F238E27FC236}">
                <a16:creationId xmlns:a16="http://schemas.microsoft.com/office/drawing/2014/main" id="{CAB765F0-4FE1-491E-42BF-6613F7B59A05}"/>
              </a:ext>
            </a:extLst>
          </p:cNvPr>
          <p:cNvPicPr>
            <a:picLocks noGrp="1" noChangeAspect="1"/>
          </p:cNvPicPr>
          <p:nvPr>
            <p:ph sz="half" idx="2"/>
          </p:nvPr>
        </p:nvPicPr>
        <p:blipFill>
          <a:blip r:embed="rId2"/>
          <a:stretch>
            <a:fillRect/>
          </a:stretch>
        </p:blipFill>
        <p:spPr>
          <a:xfrm>
            <a:off x="7641900" y="1904868"/>
            <a:ext cx="2871465" cy="3048264"/>
          </a:xfrm>
          <a:prstGeom prst="rect">
            <a:avLst/>
          </a:prstGeom>
        </p:spPr>
      </p:pic>
    </p:spTree>
    <p:extLst>
      <p:ext uri="{BB962C8B-B14F-4D97-AF65-F5344CB8AC3E}">
        <p14:creationId xmlns:p14="http://schemas.microsoft.com/office/powerpoint/2010/main" val="1289694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48599F-AA30-9D19-CE4A-58E545A7FDF1}"/>
              </a:ext>
            </a:extLst>
          </p:cNvPr>
          <p:cNvSpPr>
            <a:spLocks noGrp="1"/>
          </p:cNvSpPr>
          <p:nvPr>
            <p:ph type="title"/>
          </p:nvPr>
        </p:nvSpPr>
        <p:spPr/>
        <p:txBody>
          <a:bodyPr/>
          <a:lstStyle/>
          <a:p>
            <a:r>
              <a:rPr lang="en-US" altLang="zh-TW" dirty="0">
                <a:latin typeface="標楷體" panose="03000509000000000000" pitchFamily="65" charset="-120"/>
                <a:ea typeface="標楷體" panose="03000509000000000000" pitchFamily="65" charset="-120"/>
              </a:rPr>
              <a:t>(4). </a:t>
            </a:r>
            <a:r>
              <a:rPr lang="zh-TW" altLang="en-US" dirty="0">
                <a:latin typeface="標楷體" panose="03000509000000000000" pitchFamily="65" charset="-120"/>
                <a:ea typeface="標楷體" panose="03000509000000000000" pitchFamily="65" charset="-120"/>
              </a:rPr>
              <a:t>進行車牌辨識結果：</a:t>
            </a:r>
          </a:p>
        </p:txBody>
      </p:sp>
      <p:sp>
        <p:nvSpPr>
          <p:cNvPr id="3" name="內容版面配置區 2">
            <a:extLst>
              <a:ext uri="{FF2B5EF4-FFF2-40B4-BE49-F238E27FC236}">
                <a16:creationId xmlns:a16="http://schemas.microsoft.com/office/drawing/2014/main" id="{CC3F9496-A40A-4649-AAF8-1EFBA0A4F18B}"/>
              </a:ext>
            </a:extLst>
          </p:cNvPr>
          <p:cNvSpPr>
            <a:spLocks noGrp="1"/>
          </p:cNvSpPr>
          <p:nvPr>
            <p:ph sz="half" idx="1"/>
          </p:nvPr>
        </p:nvSpPr>
        <p:spPr/>
        <p:txBody>
          <a:bodyPr/>
          <a:lstStyle/>
          <a:p>
            <a:r>
              <a:rPr lang="zh-TW" altLang="en-US" dirty="0">
                <a:latin typeface="標楷體" panose="03000509000000000000" pitchFamily="65" charset="-120"/>
                <a:ea typeface="標楷體" panose="03000509000000000000" pitchFamily="65" charset="-120"/>
              </a:rPr>
              <a:t>前面的程式已將車牌號碼去除輪廓、雜訊、黑色部分去除就會變成乾淨完整的車牌號碼圖形後，現在使用</a:t>
            </a:r>
            <a:r>
              <a:rPr lang="en-US" altLang="zh-TW" dirty="0" err="1">
                <a:latin typeface="標楷體" panose="03000509000000000000" pitchFamily="65" charset="-120"/>
                <a:ea typeface="標楷體" panose="03000509000000000000" pitchFamily="65" charset="-120"/>
              </a:rPr>
              <a:t>ocr</a:t>
            </a:r>
            <a:r>
              <a:rPr lang="zh-TW" altLang="en-US" dirty="0">
                <a:latin typeface="標楷體" panose="03000509000000000000" pitchFamily="65" charset="-120"/>
                <a:ea typeface="標楷體" panose="03000509000000000000" pitchFamily="65" charset="-120"/>
              </a:rPr>
              <a:t>來辨識車牌。</a:t>
            </a:r>
          </a:p>
        </p:txBody>
      </p:sp>
      <p:pic>
        <p:nvPicPr>
          <p:cNvPr id="5" name="內容版面配置區 4">
            <a:extLst>
              <a:ext uri="{FF2B5EF4-FFF2-40B4-BE49-F238E27FC236}">
                <a16:creationId xmlns:a16="http://schemas.microsoft.com/office/drawing/2014/main" id="{08CDAD21-2F92-956E-825B-FF0310CAE25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96000" y="3357354"/>
            <a:ext cx="4645025" cy="916404"/>
          </a:xfrm>
          <a:prstGeom prst="rect">
            <a:avLst/>
          </a:prstGeom>
        </p:spPr>
      </p:pic>
    </p:spTree>
    <p:extLst>
      <p:ext uri="{BB962C8B-B14F-4D97-AF65-F5344CB8AC3E}">
        <p14:creationId xmlns:p14="http://schemas.microsoft.com/office/powerpoint/2010/main" val="1952061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4F65CE-2244-7A17-91DD-7D8E92BB9F8B}"/>
              </a:ext>
            </a:extLst>
          </p:cNvPr>
          <p:cNvSpPr>
            <a:spLocks noGrp="1"/>
          </p:cNvSpPr>
          <p:nvPr>
            <p:ph type="title"/>
          </p:nvPr>
        </p:nvSpPr>
        <p:spPr/>
        <p:txBody>
          <a:bodyPr/>
          <a:lstStyle/>
          <a:p>
            <a:r>
              <a:rPr lang="zh-TW" altLang="en-US" dirty="0">
                <a:latin typeface="標楷體" panose="03000509000000000000" pitchFamily="65" charset="-120"/>
                <a:ea typeface="標楷體" panose="03000509000000000000" pitchFamily="65" charset="-120"/>
              </a:rPr>
              <a:t>結論</a:t>
            </a:r>
          </a:p>
        </p:txBody>
      </p:sp>
      <p:sp>
        <p:nvSpPr>
          <p:cNvPr id="3" name="內容版面配置區 2">
            <a:extLst>
              <a:ext uri="{FF2B5EF4-FFF2-40B4-BE49-F238E27FC236}">
                <a16:creationId xmlns:a16="http://schemas.microsoft.com/office/drawing/2014/main" id="{77495879-05C7-8180-661D-3BBEA7419B85}"/>
              </a:ext>
            </a:extLst>
          </p:cNvPr>
          <p:cNvSpPr>
            <a:spLocks noGrp="1"/>
          </p:cNvSpPr>
          <p:nvPr>
            <p:ph idx="1"/>
          </p:nvPr>
        </p:nvSpPr>
        <p:spPr>
          <a:xfrm>
            <a:off x="1130270" y="1543665"/>
            <a:ext cx="9603275" cy="4198374"/>
          </a:xfrm>
        </p:spPr>
        <p:txBody>
          <a:bodyPr>
            <a:normAutofit lnSpcReduction="10000"/>
          </a:bodyPr>
          <a:lstStyle/>
          <a:p>
            <a:r>
              <a:rPr lang="zh-TW" altLang="en-US" dirty="0">
                <a:latin typeface="標楷體" panose="03000509000000000000" pitchFamily="65" charset="-120"/>
                <a:ea typeface="標楷體" panose="03000509000000000000" pitchFamily="65" charset="-120"/>
              </a:rPr>
              <a:t>使用</a:t>
            </a:r>
            <a:r>
              <a:rPr lang="en-US" altLang="zh-TW" dirty="0">
                <a:latin typeface="標楷體" panose="03000509000000000000" pitchFamily="65" charset="-120"/>
                <a:ea typeface="標楷體" panose="03000509000000000000" pitchFamily="65" charset="-120"/>
              </a:rPr>
              <a:t>OCR</a:t>
            </a:r>
            <a:r>
              <a:rPr lang="zh-TW" altLang="en-US" dirty="0">
                <a:latin typeface="標楷體" panose="03000509000000000000" pitchFamily="65" charset="-120"/>
                <a:ea typeface="標楷體" panose="03000509000000000000" pitchFamily="65" charset="-120"/>
              </a:rPr>
              <a:t>辨識車牌號碼時就必須要有個完整乾淨的圖形，就能將車牌號碼辨識的很準確，要正確的擷取到車牌號碼和訓練的模型有很大的影響，要爭增加模型的準確性，就必須要有大量的車牌作訓練。即使正確的擷取車牌號碼，車牌大小、歪斜、不清晰、光線落差、反光以及拍攝角度，都會影響辨識的結果，因此，</a:t>
            </a:r>
            <a:r>
              <a:rPr lang="en-US" altLang="zh-TW" dirty="0">
                <a:latin typeface="標楷體" panose="03000509000000000000" pitchFamily="65" charset="-120"/>
                <a:ea typeface="標楷體" panose="03000509000000000000" pitchFamily="65" charset="-120"/>
              </a:rPr>
              <a:t>OCR</a:t>
            </a:r>
            <a:r>
              <a:rPr lang="zh-TW" altLang="en-US" dirty="0">
                <a:latin typeface="標楷體" panose="03000509000000000000" pitchFamily="65" charset="-120"/>
                <a:ea typeface="標楷體" panose="03000509000000000000" pitchFamily="65" charset="-120"/>
              </a:rPr>
              <a:t>辨識比較適合在特地的場合，攝影機位置調整好，車牌大小、可控制角度以及光線好，這樣就可以達到很高的辨識率。</a:t>
            </a:r>
          </a:p>
          <a:p>
            <a:r>
              <a:rPr lang="zh-TW" altLang="en-US" dirty="0">
                <a:latin typeface="標楷體" panose="03000509000000000000" pitchFamily="65" charset="-120"/>
                <a:ea typeface="標楷體" panose="03000509000000000000" pitchFamily="65" charset="-120"/>
              </a:rPr>
              <a:t>生活上除了車牌號碼可以透過影像辨識來管理，其他如通行證、身分證等，亦或是更複雜的文件上有文字、數字及特殊符號都可以透過人工智慧的影像辨識來處理，讓人們的生活更加便利，也更加安全。</a:t>
            </a:r>
          </a:p>
          <a:p>
            <a:r>
              <a:rPr lang="zh-TW" altLang="en-US" dirty="0">
                <a:latin typeface="標楷體" panose="03000509000000000000" pitchFamily="65" charset="-120"/>
                <a:ea typeface="標楷體" panose="03000509000000000000" pitchFamily="65" charset="-120"/>
              </a:rPr>
              <a:t>連結網址：</a:t>
            </a:r>
            <a:endParaRPr lang="en-US" altLang="zh-TW" dirty="0">
              <a:latin typeface="標楷體" panose="03000509000000000000" pitchFamily="65" charset="-120"/>
              <a:ea typeface="標楷體" panose="03000509000000000000" pitchFamily="65" charset="-120"/>
            </a:endParaRPr>
          </a:p>
          <a:p>
            <a:r>
              <a:rPr lang="en-US" altLang="zh-TW" cap="none" dirty="0">
                <a:latin typeface="標楷體" panose="03000509000000000000" pitchFamily="65" charset="-120"/>
                <a:ea typeface="標楷體" panose="03000509000000000000" pitchFamily="65" charset="-120"/>
              </a:rPr>
              <a:t>https://github.com/LonelyCaesar/OpenCV-license-plate-recognition</a:t>
            </a:r>
          </a:p>
        </p:txBody>
      </p:sp>
    </p:spTree>
    <p:extLst>
      <p:ext uri="{BB962C8B-B14F-4D97-AF65-F5344CB8AC3E}">
        <p14:creationId xmlns:p14="http://schemas.microsoft.com/office/powerpoint/2010/main" val="513800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3D8D60-E3E8-130F-F7DA-03ECDF026DA7}"/>
              </a:ext>
            </a:extLst>
          </p:cNvPr>
          <p:cNvSpPr>
            <a:spLocks noGrp="1"/>
          </p:cNvSpPr>
          <p:nvPr>
            <p:ph type="title"/>
          </p:nvPr>
        </p:nvSpPr>
        <p:spPr>
          <a:xfrm>
            <a:off x="838200" y="2766218"/>
            <a:ext cx="10515600" cy="1325563"/>
          </a:xfrm>
        </p:spPr>
        <p:txBody>
          <a:bodyPr/>
          <a:lstStyle/>
          <a:p>
            <a:pPr algn="ctr"/>
            <a:r>
              <a:rPr lang="zh-TW" altLang="en-US" dirty="0">
                <a:latin typeface="Kunstler Script" panose="030304020206070D0D06" pitchFamily="66" charset="0"/>
                <a:ea typeface="標楷體" panose="03000509000000000000" pitchFamily="65" charset="-120"/>
              </a:rPr>
              <a:t>ＴＨＥ　ＥＮＤ</a:t>
            </a:r>
          </a:p>
        </p:txBody>
      </p:sp>
    </p:spTree>
    <p:extLst>
      <p:ext uri="{BB962C8B-B14F-4D97-AF65-F5344CB8AC3E}">
        <p14:creationId xmlns:p14="http://schemas.microsoft.com/office/powerpoint/2010/main" val="3240207599"/>
      </p:ext>
    </p:extLst>
  </p:cSld>
  <p:clrMapOvr>
    <a:masterClrMapping/>
  </p:clrMapOvr>
</p:sld>
</file>

<file path=ppt/theme/theme1.xml><?xml version="1.0" encoding="utf-8"?>
<a:theme xmlns:a="http://schemas.openxmlformats.org/drawingml/2006/main" name="圖庫">
  <a:themeElements>
    <a:clrScheme name="藍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圖庫">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圖庫">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Gallery</Template>
  <TotalTime>65</TotalTime>
  <Words>707</Words>
  <Application>Microsoft Office PowerPoint</Application>
  <PresentationFormat>寬螢幕</PresentationFormat>
  <Paragraphs>32</Paragraphs>
  <Slides>13</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標楷體</vt:lpstr>
      <vt:lpstr>Arial</vt:lpstr>
      <vt:lpstr>Century Gothic</vt:lpstr>
      <vt:lpstr>Kunstler Script</vt:lpstr>
      <vt:lpstr>圖庫</vt:lpstr>
      <vt:lpstr>OpenCV車牌辨識</vt:lpstr>
      <vt:lpstr>目錄</vt:lpstr>
      <vt:lpstr>專題說明</vt:lpstr>
      <vt:lpstr>相關文章</vt:lpstr>
      <vt:lpstr>PowerPoint 簡報</vt:lpstr>
      <vt:lpstr>PowerPoint 簡報</vt:lpstr>
      <vt:lpstr>實作(說明)</vt:lpstr>
      <vt:lpstr>(1). 原始圖片轉換尺寸及偵測：</vt:lpstr>
      <vt:lpstr>(2). 擷取車牌號碼圖形：</vt:lpstr>
      <vt:lpstr>(3). 去除畸零地：</vt:lpstr>
      <vt:lpstr>(4). 進行車牌辨識結果：</vt:lpstr>
      <vt:lpstr>結論</vt:lpstr>
      <vt:lpstr>ＴＨＥ　ＥＮＤ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Caesar Lonely</dc:creator>
  <cp:lastModifiedBy>Caesar Lonely</cp:lastModifiedBy>
  <cp:revision>7</cp:revision>
  <dcterms:created xsi:type="dcterms:W3CDTF">2024-07-19T13:07:22Z</dcterms:created>
  <dcterms:modified xsi:type="dcterms:W3CDTF">2024-07-19T14:12:35Z</dcterms:modified>
</cp:coreProperties>
</file>